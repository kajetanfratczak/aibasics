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Nova Square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75DCD1-B4BB-48B0-A4E8-D0888A01E097}">
  <a:tblStyle styleId="{A075DCD1-B4BB-48B0-A4E8-D0888A01E0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aleway-bold.fntdata"/><Relationship Id="rId21" Type="http://schemas.openxmlformats.org/officeDocument/2006/relationships/slide" Target="slides/slide15.xml"/><Relationship Id="rId43" Type="http://schemas.openxmlformats.org/officeDocument/2006/relationships/font" Target="fonts/Raleway-regular.fntdata"/><Relationship Id="rId24" Type="http://schemas.openxmlformats.org/officeDocument/2006/relationships/slide" Target="slides/slide18.xml"/><Relationship Id="rId46" Type="http://schemas.openxmlformats.org/officeDocument/2006/relationships/font" Target="fonts/Raleway-boldItalic.fntdata"/><Relationship Id="rId23" Type="http://schemas.openxmlformats.org/officeDocument/2006/relationships/slide" Target="slides/slide17.xml"/><Relationship Id="rId45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NovaSquare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7331c7355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7331c7355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9e34108fa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9e34108fa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9e34108fa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19e34108fa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9e34108fa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9e34108fa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9e34108fa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9e34108fa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9e34108fa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9e34108fa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9e34108fa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9e34108fa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e34108fa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9e34108fa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e34108fa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e34108fa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e34108fa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e34108fa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6a69b4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6a69b4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9e34108fa9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9e34108fa9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9e34108fa9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9e34108fa9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e34108fa9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e34108fa9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9e34108fa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9e34108fa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e34108fa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9e34108fa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9e34108fa9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9e34108fa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9e34108fa9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9e34108fa9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e34108fa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e34108fa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e34108fa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e34108fa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9e34108fa9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9e34108fa9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9e34108fa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9e34108fa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9e34108fa9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9e34108fa9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9e34108fa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9e34108fa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9e34108fa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9e34108fa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9e34108fa9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9e34108fa9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9e34108fa9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9e34108fa9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9e34108fa9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9e34108fa9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9e34108fa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9e34108fa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9e34108fa9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9e34108fa9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9e34108fa9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9e34108fa9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9e34108fa9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9e34108fa9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9e34108fa9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9e34108fa9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9e34108fa9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9e34108fa9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9e34108fa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9e34108fa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9e34108f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9e34108f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łówny slajd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0" y="4577250"/>
            <a:ext cx="9256800" cy="61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50675" y="-70350"/>
            <a:ext cx="9256800" cy="61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-75" y="1275875"/>
            <a:ext cx="9144000" cy="27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kolumn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60000" y="4577250"/>
            <a:ext cx="9256800" cy="61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50675" y="-70350"/>
            <a:ext cx="9256800" cy="61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0" y="1166850"/>
            <a:ext cx="4359300" cy="25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4784825" y="1166850"/>
            <a:ext cx="4359300" cy="25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3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główny">
  <p:cSld name="MAIN_POINT">
    <p:bg>
      <p:bgPr>
        <a:solidFill>
          <a:schemeClr val="accen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27" name="Google Shape;27;p5"/>
          <p:cNvSpPr txBox="1"/>
          <p:nvPr/>
        </p:nvSpPr>
        <p:spPr>
          <a:xfrm>
            <a:off x="3854550" y="3285450"/>
            <a:ext cx="14349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3500">
                <a:solidFill>
                  <a:srgbClr val="FFFFFF"/>
                </a:solidFill>
                <a:latin typeface="Nova Square"/>
                <a:ea typeface="Nova Square"/>
                <a:cs typeface="Nova Square"/>
                <a:sym typeface="Nova Square"/>
              </a:rPr>
              <a:t>B</a:t>
            </a:r>
            <a:r>
              <a:rPr lang="pl" sz="3500">
                <a:solidFill>
                  <a:srgbClr val="FFFFFF"/>
                </a:solidFill>
                <a:latin typeface="Nova Square"/>
                <a:ea typeface="Nova Square"/>
                <a:cs typeface="Nova Square"/>
                <a:sym typeface="Nova Square"/>
              </a:rPr>
              <a:t>it</a:t>
            </a:r>
            <a:r>
              <a:rPr lang="pl" sz="3500">
                <a:solidFill>
                  <a:srgbClr val="FFFFFF"/>
                </a:solidFill>
                <a:latin typeface="Nova Square"/>
                <a:ea typeface="Nova Square"/>
                <a:cs typeface="Nova Square"/>
                <a:sym typeface="Nova Square"/>
              </a:rPr>
              <a:t> AI</a:t>
            </a:r>
            <a:endParaRPr sz="3500">
              <a:solidFill>
                <a:srgbClr val="FFFFFF"/>
              </a:solidFill>
              <a:latin typeface="Nova Square"/>
              <a:ea typeface="Nova Square"/>
              <a:cs typeface="Nova Square"/>
              <a:sym typeface="Nova Squa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>
  <p:cSld name="MAIN_POINT_1">
    <p:bg>
      <p:bgPr>
        <a:solidFill>
          <a:schemeClr val="accent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2304750" y="1890175"/>
            <a:ext cx="4534500" cy="14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ół na pół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147150" y="1627650"/>
            <a:ext cx="4045200" cy="18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4" name="Google Shape;34;p7"/>
          <p:cNvSpPr/>
          <p:nvPr/>
        </p:nvSpPr>
        <p:spPr>
          <a:xfrm>
            <a:off x="4319800" y="-9100"/>
            <a:ext cx="4852800" cy="5193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363150" y="1499550"/>
            <a:ext cx="8417700" cy="21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Podstawy Sztucznej Inteligencji (PSI)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1021350" y="2047350"/>
            <a:ext cx="71013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Lab 2 - omówienie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311700" y="22600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Pytania? Wątpliwości? Uwagi?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1021350" y="1524300"/>
            <a:ext cx="7101300" cy="20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Wstęp do sieci neuronowych</a:t>
            </a:r>
            <a:endParaRPr sz="6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Idea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zdecydowana większość ma </a:t>
            </a:r>
            <a:r>
              <a:rPr b="1" lang="pl"/>
              <a:t>budowę warstwową:</a:t>
            </a:r>
            <a:endParaRPr b="1"/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b="1" lang="pl" sz="1800"/>
              <a:t>neurony (neurons)</a:t>
            </a:r>
            <a:r>
              <a:rPr lang="pl" sz="1800"/>
              <a:t> układane w </a:t>
            </a:r>
            <a:r>
              <a:rPr b="1" lang="pl" sz="1800"/>
              <a:t>warstwy (layers)</a:t>
            </a:r>
            <a:endParaRPr sz="1800"/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pl" sz="1800"/>
              <a:t>neurony w warstwie nie są ze sobą połączone, tylko warstwy po kolei</a:t>
            </a:r>
            <a:endParaRPr sz="1800"/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b="1" lang="pl" sz="1800"/>
              <a:t>wyjście</a:t>
            </a:r>
            <a:r>
              <a:rPr lang="pl" sz="1800"/>
              <a:t> poprzedniej warstwy to </a:t>
            </a:r>
            <a:r>
              <a:rPr b="1" lang="pl" sz="1800"/>
              <a:t>wejście</a:t>
            </a:r>
            <a:r>
              <a:rPr lang="pl" sz="1800"/>
              <a:t> następnej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na wyjściu całej sieci dostajemy np. wyniki dla poszczególnych klas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tzw. sieci </a:t>
            </a:r>
            <a:r>
              <a:rPr b="1" lang="pl"/>
              <a:t>feedforward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Rodzaje sieci neuronowych</a:t>
            </a:r>
            <a:endParaRPr/>
          </a:p>
        </p:txBody>
      </p:sp>
      <p:graphicFrame>
        <p:nvGraphicFramePr>
          <p:cNvPr id="68" name="Google Shape;68;p13"/>
          <p:cNvGraphicFramePr/>
          <p:nvPr/>
        </p:nvGraphicFramePr>
        <p:xfrm>
          <a:off x="62163" y="116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{A075DCD1-B4BB-48B0-A4E8-D0888A01E097}</a:tableStyleId>
              </a:tblPr>
              <a:tblGrid>
                <a:gridCol w="3131300"/>
                <a:gridCol w="1752150"/>
                <a:gridCol w="41362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/>
                        <a:t>Rodzaj sieci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/>
                        <a:t>Numer laboratorium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/>
                        <a:t>Dziedzina zastosowań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Multilayer Perceptron (MLP)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Dane tabelaryczne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Convolutional Neural Network (CNN)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Obrazy, audio, klasyfikacja szeregów czasowych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Recurrent Neural Network (RNN)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Szeregi czasowe, dane sekwencyjne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Transformers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Przetwarzanie języka naturalnego (NLP)</a:t>
                      </a:r>
                      <a:r>
                        <a:rPr lang="pl"/>
                        <a:t> oraz ostatnio wszystko inne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Graph Neural Networks (GNN)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6 (zad. dodatkowe)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Grafy, dane przestrzenne, ostatnio też obrazy, szeregi czasowe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49750" y="1524300"/>
            <a:ext cx="8644500" cy="20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Sieci typu Multilayer Perceptron (MLP)</a:t>
            </a:r>
            <a:endParaRPr sz="6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MultiLayer Perceptron (MLP)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najstarszy i </a:t>
            </a:r>
            <a:r>
              <a:rPr lang="pl" sz="1800"/>
              <a:t>podstawowy rodzaj </a:t>
            </a:r>
            <a:r>
              <a:rPr lang="pl"/>
              <a:t>sieci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regresja lub klasyfikacja na danych tabelarycznych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niezbędny element budowy innych sieci, typowo na końcu, jako tzw. </a:t>
            </a:r>
            <a:r>
              <a:rPr b="1" lang="pl"/>
              <a:t>głowa (head)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wejście: wektor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wyjście: skalar (regresja) lub wektor </a:t>
            </a:r>
            <a:r>
              <a:rPr b="1" lang="pl"/>
              <a:t>logitów (logits)</a:t>
            </a:r>
            <a:r>
              <a:rPr lang="pl"/>
              <a:t>, długość = liczba klas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Budowa MLP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wejście sieci: wektor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składa się z </a:t>
            </a:r>
            <a:r>
              <a:rPr b="1" lang="pl"/>
              <a:t>warstw w pełni połączonych (fully / densely connected)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wyjście poprzedniej warstwy to wejście następnej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każdy neuron z poprzedniej warstwy łączy się z każdym z następnej (stąd nazwa)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wyjście sieci:</a:t>
            </a:r>
            <a:endParaRPr/>
          </a:p>
          <a:p>
            <a:pPr indent="-294299" lvl="1" marL="719999" rtl="0" algn="just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pl"/>
              <a:t>skalar (regresja)</a:t>
            </a:r>
            <a:endParaRPr/>
          </a:p>
          <a:p>
            <a:pPr indent="-294299" lvl="1" marL="719999" rtl="0" algn="just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pl"/>
              <a:t>wektor </a:t>
            </a:r>
            <a:r>
              <a:rPr b="1" lang="pl"/>
              <a:t>logitów (logits)</a:t>
            </a:r>
            <a:r>
              <a:rPr lang="pl"/>
              <a:t>, długość = liczba klas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91" name="Google Shape;91;p17"/>
          <p:cNvSpPr txBox="1"/>
          <p:nvPr>
            <p:ph idx="4294967295" type="title"/>
          </p:nvPr>
        </p:nvSpPr>
        <p:spPr>
          <a:xfrm>
            <a:off x="311700" y="1377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Budowa MLP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0" y="761125"/>
            <a:ext cx="4227508" cy="36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200" y="761125"/>
            <a:ext cx="4443600" cy="35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Już to znamy!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sieć z jedną warstwą: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jeżeli σ to identyczność (aktywacja liniowa), to mamy </a:t>
            </a:r>
            <a:r>
              <a:rPr b="1" lang="pl"/>
              <a:t>regresję liniową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jeżeli σ to sigmoida, to mamy </a:t>
            </a:r>
            <a:r>
              <a:rPr b="1" lang="pl"/>
              <a:t>regresję logistyczną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269" y="1258850"/>
            <a:ext cx="2186161" cy="3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tak naprawdę robi?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0" y="1166850"/>
            <a:ext cx="4828500" cy="3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 ostatniej warstwie (regresja logistyczna) robimy klasyfikację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zakładamy w niej, że klasy są </a:t>
            </a:r>
            <a:r>
              <a:rPr b="1" lang="pl"/>
              <a:t>liniowo separowalne (linearly separable)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poprzednie warstwy to tak naprawdę </a:t>
            </a:r>
            <a:r>
              <a:rPr b="1" lang="pl"/>
              <a:t>transformatory</a:t>
            </a:r>
            <a:r>
              <a:rPr lang="pl"/>
              <a:t>, które robią </a:t>
            </a:r>
            <a:r>
              <a:rPr b="1" lang="pl"/>
              <a:t>nieliniowe przekształcenie</a:t>
            </a:r>
            <a:r>
              <a:rPr lang="pl"/>
              <a:t> przestrzeni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ułatwia to separację klas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500" y="1635000"/>
            <a:ext cx="4315499" cy="187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Nieliniowe przekształcenia przestrzeni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050" y="1166850"/>
            <a:ext cx="6221351" cy="30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Nieliniowe przekształcenia przestrzeni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63" y="1214525"/>
            <a:ext cx="7791876" cy="31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Warstwa w pełni połączona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zbiór neuronów, każdy to </a:t>
            </a:r>
            <a:r>
              <a:rPr b="1" lang="pl"/>
              <a:t>wektor parametrów</a:t>
            </a:r>
            <a:r>
              <a:rPr lang="pl"/>
              <a:t>, o </a:t>
            </a:r>
            <a:r>
              <a:rPr lang="pl"/>
              <a:t>zadanej</a:t>
            </a:r>
            <a:r>
              <a:rPr lang="pl"/>
              <a:t> </a:t>
            </a:r>
            <a:r>
              <a:rPr b="1" lang="pl"/>
              <a:t>wymiarowości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cała warstwa to </a:t>
            </a:r>
            <a:r>
              <a:rPr b="1" lang="pl"/>
              <a:t>macierz wag W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neurony realizują </a:t>
            </a:r>
            <a:r>
              <a:rPr b="1" lang="pl"/>
              <a:t>funkcję</a:t>
            </a:r>
            <a:r>
              <a:rPr lang="pl"/>
              <a:t>, której wejściem jest macierz X: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σ to </a:t>
            </a:r>
            <a:r>
              <a:rPr b="1" lang="pl"/>
              <a:t>funkcja aktywacji (activation function)</a:t>
            </a:r>
            <a:r>
              <a:rPr lang="pl"/>
              <a:t>, która wyznacza, jak bardzo wejście </a:t>
            </a:r>
            <a:r>
              <a:rPr b="1" lang="pl"/>
              <a:t>aktywuje </a:t>
            </a:r>
            <a:r>
              <a:rPr lang="pl"/>
              <a:t>dany neuron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dodaje się też bias (kolumna 1)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wyjście nazywa się często </a:t>
            </a:r>
            <a:r>
              <a:rPr b="1" lang="pl"/>
              <a:t>ukrytą reprezentacją (hidden representation)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094" y="2121800"/>
            <a:ext cx="2186161" cy="3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Sieć MLP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mamy warstwy po kolei, przekazują sobie wejście - to </a:t>
            </a:r>
            <a:r>
              <a:rPr b="1" lang="pl"/>
              <a:t>złożenie funkcji:</a:t>
            </a:r>
            <a:endParaRPr b="1"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funkcja σ musi być </a:t>
            </a:r>
            <a:r>
              <a:rPr b="1" lang="pl"/>
              <a:t>nieliniowa (non-linear)</a:t>
            </a:r>
            <a:r>
              <a:rPr lang="pl"/>
              <a:t>, bo złożenie funkcji liniowych byłoby liniowe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warstwy w środku nazywa się </a:t>
            </a:r>
            <a:r>
              <a:rPr b="1" lang="pl"/>
              <a:t>warstwami ukrytymi (hidden layers)</a:t>
            </a:r>
            <a:endParaRPr b="1"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425" y="1663400"/>
            <a:ext cx="3802400" cy="15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Wyjście sieci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0" y="1166850"/>
            <a:ext cx="3069300" cy="3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Regresja: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1 neuron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"bez aktywacji" (liniowa)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972000" y="1166850"/>
            <a:ext cx="5172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Klasyfikacja</a:t>
            </a:r>
            <a:r>
              <a:rPr b="1" lang="pl"/>
              <a:t>:</a:t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 neuronów dla K klas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wyjście przed aktywacją to </a:t>
            </a:r>
            <a:r>
              <a:rPr b="1" lang="pl"/>
              <a:t>logity (logits)</a:t>
            </a:r>
            <a:r>
              <a:rPr lang="pl"/>
              <a:t>, wartości rzeczywiste dla każdej klasy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aktywacja </a:t>
            </a:r>
            <a:r>
              <a:rPr b="1" lang="pl"/>
              <a:t>funkcją softmax</a:t>
            </a:r>
            <a:r>
              <a:rPr lang="pl"/>
              <a:t> - zamienia logity na rozkład prawdopodobieństw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249750" y="1536000"/>
            <a:ext cx="8644500" cy="20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Trening sieci neuronowych</a:t>
            </a:r>
            <a:endParaRPr sz="6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Trening sieci neuronowych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47875" y="121115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przejście w przód (forward pass)</a:t>
            </a:r>
            <a:r>
              <a:rPr lang="pl">
                <a:solidFill>
                  <a:schemeClr val="dk1"/>
                </a:solidFill>
              </a:rPr>
              <a:t> - wejście przechodzi przez sieć i dostajemy predykcję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funkcja kosztu (loss / cost function)</a:t>
            </a:r>
            <a:r>
              <a:rPr lang="pl">
                <a:solidFill>
                  <a:schemeClr val="dk1"/>
                </a:solidFill>
              </a:rPr>
              <a:t> - oblicza różnicę między predykcją a prawdą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cel:</a:t>
            </a:r>
            <a:r>
              <a:rPr lang="pl">
                <a:solidFill>
                  <a:schemeClr val="dk1"/>
                </a:solidFill>
              </a:rPr>
              <a:t> chcemy wiedzieć, jak zmienić poszczególne wagi (parametry sieci), aby uzyskać mniejszy koszt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aktualizację tę robi </a:t>
            </a:r>
            <a:r>
              <a:rPr b="1" lang="pl">
                <a:solidFill>
                  <a:schemeClr val="dk1"/>
                </a:solidFill>
              </a:rPr>
              <a:t>propagacja wsteczna (backward pass)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Propagacja wsteczna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przejście w tył (backward pass)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liczymy </a:t>
            </a:r>
            <a:r>
              <a:rPr b="1" lang="pl">
                <a:solidFill>
                  <a:schemeClr val="dk1"/>
                </a:solidFill>
              </a:rPr>
              <a:t>pochodną funkcji kosztu</a:t>
            </a:r>
            <a:r>
              <a:rPr lang="pl">
                <a:solidFill>
                  <a:schemeClr val="dk1"/>
                </a:solidFill>
              </a:rPr>
              <a:t> i jej wartość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za pomocą reguły łańcuchowej liczymy pochodne cząstkowe - pochodne po neuronach z </a:t>
            </a:r>
            <a:r>
              <a:rPr b="1" lang="pl">
                <a:solidFill>
                  <a:schemeClr val="dk1"/>
                </a:solidFill>
              </a:rPr>
              <a:t>ostatniej warstwy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aktualizujemy zgodnie ze spadkiem wzdłuż gradientu: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cofamy się do poprzedniej warstwy, powtarzamy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545" y="2710420"/>
            <a:ext cx="2676524" cy="7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100" y="623400"/>
            <a:ext cx="5599800" cy="45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>
            <p:ph idx="4294967295" type="title"/>
          </p:nvPr>
        </p:nvSpPr>
        <p:spPr>
          <a:xfrm>
            <a:off x="311700" y="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Propagacja wsteczna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Przybliżanie pochodnych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używamy tutaj </a:t>
            </a:r>
            <a:r>
              <a:rPr b="1" lang="pl">
                <a:solidFill>
                  <a:schemeClr val="dk1"/>
                </a:solidFill>
              </a:rPr>
              <a:t>empirycznego</a:t>
            </a:r>
            <a:r>
              <a:rPr lang="pl">
                <a:solidFill>
                  <a:schemeClr val="dk1"/>
                </a:solidFill>
              </a:rPr>
              <a:t> oszacowania, z danych treningowych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można to robić: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l">
                <a:solidFill>
                  <a:schemeClr val="dk1"/>
                </a:solidFill>
              </a:rPr>
              <a:t>full-batch GD</a:t>
            </a:r>
            <a:r>
              <a:rPr lang="pl">
                <a:solidFill>
                  <a:schemeClr val="dk1"/>
                </a:solidFill>
              </a:rPr>
              <a:t> - całe dane naraz, nie starczy zwykle pamięci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l">
                <a:solidFill>
                  <a:schemeClr val="dk1"/>
                </a:solidFill>
              </a:rPr>
              <a:t>stochastic GD</a:t>
            </a:r>
            <a:r>
              <a:rPr lang="pl"/>
              <a:t> - 1 przykład naraz, zwykle słabo używa GPU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pl">
                <a:solidFill>
                  <a:schemeClr val="dk1"/>
                </a:solidFill>
              </a:rPr>
              <a:t>mini-batch GD</a:t>
            </a:r>
            <a:r>
              <a:rPr lang="pl">
                <a:solidFill>
                  <a:schemeClr val="dk1"/>
                </a:solidFill>
              </a:rPr>
              <a:t> - paczka przykładów, złoty środek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mniejszy batch </a:t>
            </a:r>
            <a:r>
              <a:rPr b="1" lang="pl">
                <a:solidFill>
                  <a:schemeClr val="dk1"/>
                </a:solidFill>
              </a:rPr>
              <a:t>implicite regularyzuje</a:t>
            </a:r>
            <a:r>
              <a:rPr lang="pl">
                <a:solidFill>
                  <a:schemeClr val="dk1"/>
                </a:solidFill>
              </a:rPr>
              <a:t> trening sieci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Czas treningu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-75" y="1218000"/>
            <a:ext cx="9144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epoka (epoch)</a:t>
            </a:r>
            <a:r>
              <a:rPr lang="pl">
                <a:solidFill>
                  <a:schemeClr val="dk1"/>
                </a:solidFill>
              </a:rPr>
              <a:t> - przejście 1 raz przez cały zbiór treningowy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im dłuższy trening, tym większe ryzyko overfittingu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wczesny stop (early stopping)</a:t>
            </a:r>
            <a:r>
              <a:rPr lang="pl">
                <a:solidFill>
                  <a:schemeClr val="dk1"/>
                </a:solidFill>
              </a:rPr>
              <a:t> - przerwanie treningu wcześniej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co epokę / ileś mini-batchy sprawdzamy wynik walidacyjny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sprawdzamy, czy przez ostatnie X sprawdzeń dostaliśmy nowy najlepszy wynik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jeżeli nie, to przerywamy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X to </a:t>
            </a:r>
            <a:r>
              <a:rPr b="1" lang="pl">
                <a:solidFill>
                  <a:schemeClr val="dk1"/>
                </a:solidFill>
              </a:rPr>
              <a:t>cierpliwość (patience)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Training-validation loss curve</a:t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238" y="1166850"/>
            <a:ext cx="5501525" cy="335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249750" y="1998900"/>
            <a:ext cx="8644500" cy="11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Funkcje aktywacji</a:t>
            </a:r>
            <a:endParaRPr sz="6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43600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Sigmoida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-75" y="1923900"/>
            <a:ext cx="5667000" cy="25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nieużywane wewnątrz sieci, bo ma płaskie końce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płaskie = gradienty bliskie 0 = sieć przestaje się uczyć - </a:t>
            </a:r>
            <a:r>
              <a:rPr lang="pl"/>
              <a:t>problem</a:t>
            </a:r>
            <a:r>
              <a:rPr b="1" lang="pl"/>
              <a:t> nasyconych neuronów (saturated neurons)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czasem używane na końcu sieci w klasyfikacji binarnej</a:t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925" y="1412724"/>
            <a:ext cx="3477075" cy="231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413" y="1166850"/>
            <a:ext cx="2044925" cy="7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43600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Softmax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-75" y="1923900"/>
            <a:ext cx="5361900" cy="25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zamienia wektor na rozkład prawdopodobieństw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używane na logitach na wyjściu sieci</a:t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350" y="1166850"/>
            <a:ext cx="2872687" cy="7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525" y="1677775"/>
            <a:ext cx="3477375" cy="178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43600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Tangens hiperboliczny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-75" y="1923900"/>
            <a:ext cx="5361900" cy="25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kiedyś używana, żeby rozwiązać problem nasyconych neuronów z sigmoidy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dalej ma ten problem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obecnie nieużywana</a:t>
            </a:r>
            <a:endParaRPr/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125" y="1536500"/>
            <a:ext cx="3753875" cy="20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4863" y="1166850"/>
            <a:ext cx="2872026" cy="7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43600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Rectified Linear Unit (ReLU)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-75" y="1923900"/>
            <a:ext cx="5483700" cy="25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przełom w uczeniu głębokich sieci neuronowych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prosta, szybka, dobrze działa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nieróżniczkowalna w 0 - robimy if/else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pochodna w znacznej części to 0, więc neurony się nie uczą, jeżeli wpadną w ten obszar - problem </a:t>
            </a:r>
            <a:r>
              <a:rPr b="1" lang="pl"/>
              <a:t>martwych neuronów (dead neurons)</a:t>
            </a:r>
            <a:endParaRPr b="1"/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625" y="1408713"/>
            <a:ext cx="3660375" cy="232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21" y="1309700"/>
            <a:ext cx="3410775" cy="4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0" y="543450"/>
            <a:ext cx="5364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Nowe funkcje aktywacji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-75" y="1196625"/>
            <a:ext cx="5333400" cy="33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różniczkowalne przybliżenia ReLU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szczególnie przydatne przy bardzo głębokich i bardzo dużych sieciach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różne podejścia, koszt i dodatkowe parametry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l"/>
              <a:t>ciężko wybrać, popularne są GELU, ELU, SiLU (Swish)</a:t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625" y="732825"/>
            <a:ext cx="2208069" cy="3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648" y="2222323"/>
            <a:ext cx="3779350" cy="23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3625" y="1196625"/>
            <a:ext cx="3660375" cy="84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249750" y="1506600"/>
            <a:ext cx="8644500" cy="21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Ulepszenia i hiperparametry</a:t>
            </a:r>
            <a:endParaRPr sz="6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240" name="Google Shape;240;p39"/>
          <p:cNvSpPr txBox="1"/>
          <p:nvPr>
            <p:ph idx="4294967295" type="title"/>
          </p:nvPr>
        </p:nvSpPr>
        <p:spPr>
          <a:xfrm>
            <a:off x="343600" y="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Współczynnik uczenia</a:t>
            </a:r>
            <a:endParaRPr/>
          </a:p>
        </p:txBody>
      </p:sp>
      <p:sp>
        <p:nvSpPr>
          <p:cNvPr id="241" name="Google Shape;241;p39"/>
          <p:cNvSpPr txBox="1"/>
          <p:nvPr/>
        </p:nvSpPr>
        <p:spPr>
          <a:xfrm>
            <a:off x="0" y="623400"/>
            <a:ext cx="4476000" cy="4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b="1"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wyznacza wielkość kroków</a:t>
            </a:r>
            <a:endParaRPr b="1"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duży: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uczymy szybko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przeskakujemy minima lokalne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ciężko wbić się w minimum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mały: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uczymy powoli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precyzyjnie znajdujemy minima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możemy wpaść w minimum lokalne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4668000" y="623400"/>
            <a:ext cx="4476000" cy="3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b="1"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typowe wartości:</a:t>
            </a:r>
            <a:endParaRPr b="1"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domyślnie: 1e-3 (0.001)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zakres: od 1e-5 do 1e-2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zwykle stały - </a:t>
            </a:r>
            <a:r>
              <a:rPr b="1"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stała ucząca</a:t>
            </a:r>
            <a:endParaRPr b="1"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może być </a:t>
            </a:r>
            <a:r>
              <a:rPr b="1"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adaptacyjny (adaptive):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zależna od momentu treningu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różna dla różnych zmiennych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Source Sans Pro"/>
              <a:buChar char="○"/>
            </a:pPr>
            <a:r>
              <a:rPr lang="pl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dostosowywać się do dynamiki treningu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248" name="Google Shape;248;p40"/>
          <p:cNvSpPr txBox="1"/>
          <p:nvPr>
            <p:ph idx="4294967295" type="title"/>
          </p:nvPr>
        </p:nvSpPr>
        <p:spPr>
          <a:xfrm>
            <a:off x="343600" y="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Współczynnik uczenia</a:t>
            </a: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7588"/>
            <a:ext cx="8839198" cy="342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Regularyzacja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-75" y="1218000"/>
            <a:ext cx="91440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L2</a:t>
            </a:r>
            <a:r>
              <a:rPr lang="pl">
                <a:solidFill>
                  <a:schemeClr val="dk1"/>
                </a:solidFill>
              </a:rPr>
              <a:t> - tak jak przy regresji liniowej, penalizujemy duże wagi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dropout: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losowo wyłączamy neurony w trakcie treningu (zerujemy wagi)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zapobiega nadmiernej specjalizacji neuronów - muszą być gotowe, że inne przestaną istnieć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często bardzo ostry, np. 25% czy 50%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l">
                <a:solidFill>
                  <a:schemeClr val="dk1"/>
                </a:solidFill>
              </a:rPr>
              <a:t>realizuje </a:t>
            </a:r>
            <a:r>
              <a:rPr b="1" lang="pl">
                <a:solidFill>
                  <a:schemeClr val="dk1"/>
                </a:solidFill>
              </a:rPr>
              <a:t>ensemble </a:t>
            </a:r>
            <a:r>
              <a:rPr b="1" lang="pl">
                <a:solidFill>
                  <a:schemeClr val="dk1"/>
                </a:solidFill>
              </a:rPr>
              <a:t>learning</a:t>
            </a:r>
            <a:r>
              <a:rPr lang="pl">
                <a:solidFill>
                  <a:schemeClr val="dk1"/>
                </a:solidFill>
              </a:rPr>
              <a:t> - w każdej iteracji uczymy nieco inną sieć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b="1" lang="pl">
                <a:solidFill>
                  <a:schemeClr val="dk1"/>
                </a:solidFill>
              </a:rPr>
              <a:t>wczesny stop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7425" y="543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Hiperparametry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0" y="1166850"/>
            <a:ext cx="45720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Architektura sieci: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liczba warstw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rozmiary warstw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funkcja aktywacji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4572000" y="1166850"/>
            <a:ext cx="45720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Trening: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stała ucząca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siła regularyzacji L2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prawdopodobieństwo dropoutu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cierpliwość wczesnego stopu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63150" y="1989900"/>
            <a:ext cx="8417700" cy="11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6000"/>
              <a:t>Pytania?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333333"/>
      </a:accent1>
      <a:accent2>
        <a:srgbClr val="274E13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